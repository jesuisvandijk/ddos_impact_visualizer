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E_5FD67FB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71" r:id="rId11"/>
    <p:sldId id="259" r:id="rId12"/>
    <p:sldId id="268" r:id="rId13"/>
    <p:sldId id="269" r:id="rId14"/>
    <p:sldId id="270" r:id="rId15"/>
    <p:sldId id="266" r:id="rId1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DD33252-BB8A-E2AC-DBF3-C0B9767629C5}" name="Dijk, J. van (Jesse, Student B-BIT)" initials="JD" userId="S::j.vandijk-9@student.utwente.nl::fd500793-6327-4c6a-947d-01b8db72ac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0E_5FD67F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57CBD1-2E13-401B-AC60-512B45BF9A66}" authorId="{0DD33252-BB8A-E2AC-DBF3-C0B9767629C5}" created="2026-06-29T10:00:28.44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07892926" sldId="270"/>
      <ac:picMk id="7" creationId="{83B7D95A-3DF2-472B-586D-D543E001F828}"/>
    </ac:deMkLst>
    <p188:txBody>
      <a:bodyPr/>
      <a:lstStyle/>
      <a:p>
        <a:r>
          <a:rPr lang="en-NL"/>
          <a:t>Gaat nog veranderen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7640F-E7AD-4C9A-A498-AEC2A4C3209A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B21B2-CBE8-44AE-B546-148ADCE1D4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46584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B21B2-CBE8-44AE-B546-148ADCE1D487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11529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165E-0AD9-5661-91B8-B4F8FBDC0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D851A-D8C0-B47A-3E8A-2343CE210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E8DAC-E415-78E7-31F5-DB67DCDD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8151D-55FF-C578-107B-26BB3ECA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27A6F-3428-024A-35D6-A3EEA190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2724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FAB2-0726-3E6B-01DC-2C7E2251B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03F14-F5C6-5FAD-F7B4-586E10300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FE3B7-06B4-DAB6-FB6A-6A1E57CD7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FA1BC-5952-61A3-E86D-E5436148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BA67E-484E-670C-C8FD-6D5AA015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0515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4DADB-4C47-9B7B-4AE8-8C00A55A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A21C8-CBE9-7DBD-ADF9-8DE42F857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9E83D-4B38-4C1B-15C2-F475BD62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F3C5D-BE0C-9089-9B09-65A575B8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B391B-A4A3-5BEC-8DED-1421C6B9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96849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5DD4D-9765-A622-AAF4-C83A458E1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F4B04-3112-7FB4-1810-F1404CF31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E8502-547E-3988-AD59-74AB54EC1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FA909-0061-1F33-F81A-1D217B24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2760C-83C4-E3B9-6282-EF2942BD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5BDD9-D6F5-C64A-6E28-5E423A2A0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7725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4A2EA-2A2C-9378-8CD2-F488BDF4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751AE-F5B9-0909-A193-F49DF6038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97E3F-DB3A-755E-48A8-9ED8ADD65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965D67-2375-CC2B-2DBF-7C267503D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945E4-8712-F053-EA75-B99BB5E7F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CE64B-31D4-C70F-C0B1-2B35E798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E331B-9239-1A85-6129-BC23700D3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801829-49A5-C4C5-B043-F63A0FD3A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91163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7375-2C47-3ADC-A32E-D24CCAB9D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059BD1-AD44-C75E-15B5-A4933E17D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8BDFE-2C7B-355A-3CC3-74BD5E701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07B96-C0D0-927B-C82B-F9AE00F5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86217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2CECC-AB7C-EEAC-67E9-90F67F69C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8E462E-755F-635E-C82D-8D66AF7AD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9AE7B-140C-1E0C-6462-CFA57D0A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053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B77F7-4BB4-FF38-A0B5-74224DFC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E8604-9F32-4525-4459-72407D96D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7A1BF-8B0E-1D4D-A79C-962EE8A82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1E3A3-32F0-1C45-E91D-DA0DE0982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9CB4C-CF02-44EA-3279-0EF18BE27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01A7D-DB4A-6C2A-4421-F00CB020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870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78FA2-AB48-DCBF-D4B8-37CC72C7E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306019-BDFE-CEE6-5E39-62B1FA579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0644F-BB15-B136-B05F-FA5D5E791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11AEF-78BA-8192-8BBB-BCA9E5A18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8A28A-00F3-CE0C-204E-3FB5DA366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64216-2747-9FA6-BA57-59AE64AA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4478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56F3-22B6-53D2-F83E-7F27C23DE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998F1-F443-8393-C092-2BB5E49B4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AF731-847D-8856-B457-41E12E21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54AC0-090A-8C41-48F6-A744F3A6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97728-2F73-24B0-616F-EBF8AC17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630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2E2A0D-4DBA-252E-DF68-41B471627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22CD1-2B8D-A357-F3C6-12982088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C3481-CF1B-3381-209E-BB9C9CCA0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54EB-E828-9B06-C159-487BB89C6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DC7BA-E060-C675-34F7-28313A14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8665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36C0C3-4526-43CD-DF0D-3A0013606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B532A-0C6A-3270-18D9-59D71C39B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E09BA-8FF5-9D88-A052-F5D18DF831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FBE42-8B7A-4984-8B90-DDFE307655EC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F4284-0920-1FEA-8113-9C052A58E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0143A-E268-64FA-43F4-2F5E747C8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E7488-CF36-4B26-A216-4AF3593B9C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687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.vandijk-9@student.utwente.n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esuisvandijk/DDoS_Impact_Visualizer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0E_5FD67FBE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376E-2444-6158-E090-A491700CD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049"/>
            <a:ext cx="9144000" cy="2387600"/>
          </a:xfrm>
        </p:spPr>
        <p:txBody>
          <a:bodyPr/>
          <a:lstStyle/>
          <a:p>
            <a:r>
              <a:rPr lang="en-GB" dirty="0"/>
              <a:t>From Noise to Narrative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776D5-0EA7-5199-C745-50EEEBB6E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82649"/>
            <a:ext cx="9144000" cy="1655762"/>
          </a:xfrm>
        </p:spPr>
        <p:txBody>
          <a:bodyPr/>
          <a:lstStyle/>
          <a:p>
            <a:r>
              <a:rPr lang="en-NL" dirty="0"/>
              <a:t>A </a:t>
            </a:r>
            <a:r>
              <a:rPr lang="en-GB" dirty="0"/>
              <a:t>V</a:t>
            </a:r>
            <a:r>
              <a:rPr lang="en-NL" dirty="0" err="1"/>
              <a:t>isualization</a:t>
            </a:r>
            <a:r>
              <a:rPr lang="en-NL" dirty="0"/>
              <a:t> </a:t>
            </a:r>
            <a:r>
              <a:rPr lang="en-GB" dirty="0"/>
              <a:t>T</a:t>
            </a:r>
            <a:r>
              <a:rPr lang="en-NL" dirty="0" err="1"/>
              <a:t>ool</a:t>
            </a:r>
            <a:r>
              <a:rPr lang="en-NL" dirty="0"/>
              <a:t> for DDoS </a:t>
            </a:r>
            <a:r>
              <a:rPr lang="en-GB" dirty="0"/>
              <a:t>E</a:t>
            </a:r>
            <a:r>
              <a:rPr lang="en-NL" dirty="0"/>
              <a:t>vents </a:t>
            </a:r>
            <a:r>
              <a:rPr lang="en-GB" dirty="0"/>
              <a:t>A</a:t>
            </a:r>
            <a:r>
              <a:rPr lang="en-NL" dirty="0"/>
              <a:t>cross PEST </a:t>
            </a:r>
            <a:r>
              <a:rPr lang="en-GB" dirty="0"/>
              <a:t>D</a:t>
            </a:r>
            <a:r>
              <a:rPr lang="en-NL" dirty="0" err="1"/>
              <a:t>imension</a:t>
            </a:r>
            <a:r>
              <a:rPr lang="en-GB" dirty="0"/>
              <a:t>s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86A9CF-5AFC-8556-7F1A-FBAD6ACF1436}"/>
              </a:ext>
            </a:extLst>
          </p:cNvPr>
          <p:cNvSpPr txBox="1"/>
          <p:nvPr/>
        </p:nvSpPr>
        <p:spPr>
          <a:xfrm>
            <a:off x="8588828" y="5380672"/>
            <a:ext cx="47026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Jesse van Dijk</a:t>
            </a:r>
          </a:p>
          <a:p>
            <a:r>
              <a:rPr lang="en-GB" dirty="0"/>
              <a:t>Business Information Technology</a:t>
            </a:r>
          </a:p>
          <a:p>
            <a:r>
              <a:rPr lang="en-GB" dirty="0"/>
              <a:t>s2920174</a:t>
            </a:r>
          </a:p>
          <a:p>
            <a:r>
              <a:rPr lang="en-GB" dirty="0">
                <a:hlinkClick r:id="rId2"/>
              </a:rPr>
              <a:t>j.vandijk-9@student.utwente.nl</a:t>
            </a:r>
            <a:endParaRPr lang="en-GB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39396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BEE7E-DCC9-0B16-7261-A3643CE7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88450-B69E-5164-0114-F62E627F1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Current affairs: Recent attacks on Israel, European Parliament (2023)</a:t>
            </a:r>
          </a:p>
          <a:p>
            <a:r>
              <a:rPr lang="en-GB" dirty="0"/>
              <a:t>Situation: DDoS attacks are relevant threats, and are actively being reported on</a:t>
            </a:r>
          </a:p>
          <a:p>
            <a:r>
              <a:rPr lang="en-GB" dirty="0" err="1"/>
              <a:t>Complicatie</a:t>
            </a:r>
            <a:r>
              <a:rPr lang="en-GB" dirty="0"/>
              <a:t>: it is hard to gain insight into the impact of these dimensions</a:t>
            </a:r>
          </a:p>
          <a:p>
            <a:r>
              <a:rPr lang="en-GB" dirty="0"/>
              <a:t>Question: How do we measure and visualize different dimensions of impact of a DDoS event by clustering article-level news data?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01719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6A4C1-25CD-75EF-5D81-170DA3C1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Questions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8AC5B-31F3-4E6C-59B8-4E260950F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RQ1: T</a:t>
            </a:r>
            <a:r>
              <a:rPr lang="en-NL" dirty="0"/>
              <a:t>o what extent does news coverage of a DDoS event reflect its PEST-dimension impact?</a:t>
            </a:r>
            <a:endParaRPr lang="en-GB" dirty="0"/>
          </a:p>
          <a:p>
            <a:r>
              <a:rPr lang="en-GB" dirty="0"/>
              <a:t>RQ2: </a:t>
            </a:r>
            <a:r>
              <a:rPr lang="en-NL" dirty="0"/>
              <a:t>How effectively can event-level groupings of DDoS events be constructed from article-level news data using semantic embedding and clustering?</a:t>
            </a:r>
            <a:endParaRPr lang="en-GB" dirty="0"/>
          </a:p>
          <a:p>
            <a:r>
              <a:rPr lang="en-GB" dirty="0"/>
              <a:t>RQ3: </a:t>
            </a:r>
            <a:r>
              <a:rPr lang="en-NL" dirty="0"/>
              <a:t>How</a:t>
            </a:r>
            <a:r>
              <a:rPr lang="en-GB" dirty="0"/>
              <a:t> </a:t>
            </a:r>
            <a:r>
              <a:rPr lang="en-NL" dirty="0"/>
              <a:t>do</a:t>
            </a:r>
            <a:r>
              <a:rPr lang="en-GB" dirty="0"/>
              <a:t> </a:t>
            </a:r>
            <a:r>
              <a:rPr lang="en-NL" dirty="0"/>
              <a:t>we</a:t>
            </a:r>
            <a:r>
              <a:rPr lang="en-GB" dirty="0"/>
              <a:t> </a:t>
            </a:r>
            <a:r>
              <a:rPr lang="en-NL" dirty="0"/>
              <a:t>create a measurement tool to visualize the impact of an event based on the annotated dataset?</a:t>
            </a:r>
          </a:p>
        </p:txBody>
      </p:sp>
    </p:spTree>
    <p:extLst>
      <p:ext uri="{BB962C8B-B14F-4D97-AF65-F5344CB8AC3E}">
        <p14:creationId xmlns:p14="http://schemas.microsoft.com/office/powerpoint/2010/main" val="61939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8B67-E618-9766-5942-0FCE9FE9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PEST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6C462-7C76-78C1-E08E-713C26AF0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Political</a:t>
            </a:r>
          </a:p>
          <a:p>
            <a:r>
              <a:rPr lang="en-GB" dirty="0"/>
              <a:t>Economical</a:t>
            </a:r>
          </a:p>
          <a:p>
            <a:r>
              <a:rPr lang="en-GB" dirty="0"/>
              <a:t>Social</a:t>
            </a:r>
          </a:p>
          <a:p>
            <a:r>
              <a:rPr lang="en-GB" dirty="0"/>
              <a:t>Technological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FEE3D-20DC-4917-6089-77999FFA6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940" y="104311"/>
            <a:ext cx="4477375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9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9F8F1-664F-9C41-4334-900E69E15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21DE6-0B5D-8A0D-EF16-11D01ED1D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E1608-F1BB-67B5-59B3-FA8A45913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434" y="757454"/>
            <a:ext cx="7342311" cy="541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68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7A3B-859F-E8B0-22F4-6131896A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+ annotation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ABE2F-7211-60B2-6324-F31647ADF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Complete database of 235913 articles</a:t>
            </a:r>
          </a:p>
          <a:p>
            <a:r>
              <a:rPr lang="en-GB" dirty="0"/>
              <a:t>Between 20-8-2015 and 10-5-2023</a:t>
            </a:r>
          </a:p>
          <a:p>
            <a:r>
              <a:rPr lang="en-GB" dirty="0"/>
              <a:t>1000 selected, 860 DDoS relevant 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905E7-0EAA-31D4-D619-ABEE8F162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238" y="3554283"/>
            <a:ext cx="6618281" cy="275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54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F640-EB21-F06E-77B4-2C8CA8BD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Clustering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21A1F-C255-5DDD-5386-70B854AE0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UMAP</a:t>
            </a:r>
          </a:p>
          <a:p>
            <a:r>
              <a:rPr lang="en-GB" dirty="0"/>
              <a:t>HDBSCAN</a:t>
            </a:r>
          </a:p>
          <a:p>
            <a:pPr lvl="1"/>
            <a:r>
              <a:rPr lang="en-GB" dirty="0" err="1"/>
              <a:t>Min_cluster_size</a:t>
            </a:r>
            <a:endParaRPr lang="en-GB" dirty="0"/>
          </a:p>
          <a:p>
            <a:pPr lvl="1"/>
            <a:r>
              <a:rPr lang="en-GB" dirty="0" err="1"/>
              <a:t>Min_samples</a:t>
            </a:r>
            <a:endParaRPr lang="en-GB" dirty="0"/>
          </a:p>
          <a:p>
            <a:pPr lvl="1"/>
            <a:r>
              <a:rPr lang="en-GB" dirty="0" err="1"/>
              <a:t>Max_cluster_size</a:t>
            </a:r>
            <a:endParaRPr lang="en-GB" dirty="0"/>
          </a:p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7A65F-FA91-D9A8-03FE-D1314DB46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602" y="0"/>
            <a:ext cx="8146397" cy="515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55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0D065-DABB-5A1F-F539-25998617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Regressor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4264E-1D51-0B54-396F-005E878F2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Goal: Test if PEST impact is learnable</a:t>
            </a:r>
          </a:p>
          <a:p>
            <a:r>
              <a:rPr lang="en-GB" dirty="0"/>
              <a:t>SVR with nested cross-validation</a:t>
            </a:r>
          </a:p>
          <a:p>
            <a:r>
              <a:rPr lang="en-GB" dirty="0"/>
              <a:t>Label noise sets upper performance bound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73CEB-1E13-E510-9B64-94D0EB1DC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029" y="3222171"/>
            <a:ext cx="5871942" cy="247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14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A8A2-D092-4863-4AE5-027947D3B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1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3F9B2-A9A1-4802-58FC-F859BB8F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7"/>
            <a:ext cx="5950432" cy="2445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5C944D-2F9B-0E20-ACD2-30052670C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01376"/>
            <a:ext cx="5950432" cy="365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07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304CA-C13D-C5BE-6623-A07970A7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2</a:t>
            </a:r>
            <a:endParaRPr lang="en-N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A4BA1D-92A0-AE18-BB72-0B7B0FCFC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5" y="1273148"/>
            <a:ext cx="8817429" cy="5584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8B6572-A4F1-0583-B898-B7478FA2359C}"/>
              </a:ext>
            </a:extLst>
          </p:cNvPr>
          <p:cNvSpPr txBox="1"/>
          <p:nvPr/>
        </p:nvSpPr>
        <p:spPr>
          <a:xfrm>
            <a:off x="9416144" y="2229379"/>
            <a:ext cx="4974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28 events, </a:t>
            </a:r>
            <a:br>
              <a:rPr lang="en-GB" dirty="0"/>
            </a:br>
            <a:r>
              <a:rPr lang="en-NL" dirty="0"/>
              <a:t>860 articles, </a:t>
            </a:r>
            <a:br>
              <a:rPr lang="en-GB" dirty="0"/>
            </a:br>
            <a:r>
              <a:rPr lang="en-NL" dirty="0"/>
              <a:t>75.8% noise</a:t>
            </a:r>
          </a:p>
        </p:txBody>
      </p:sp>
    </p:spTree>
    <p:extLst>
      <p:ext uri="{BB962C8B-B14F-4D97-AF65-F5344CB8AC3E}">
        <p14:creationId xmlns:p14="http://schemas.microsoft.com/office/powerpoint/2010/main" val="3541719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37313-5F56-284B-316A-928FA32A4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EBA3-758E-6AEE-F05E-61BE8DA65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LLM annotation is not a reliable substitute for human judgment (κ = 0.057–0.207</a:t>
            </a:r>
            <a:r>
              <a:rPr lang="en-GB" dirty="0"/>
              <a:t>)</a:t>
            </a:r>
          </a:p>
          <a:p>
            <a:r>
              <a:rPr lang="en-NL" dirty="0"/>
              <a:t>SVR cannot predict PEST scores from embeddings alone (Spearman ≈ 0–0.19)</a:t>
            </a:r>
            <a:endParaRPr lang="en-GB" dirty="0"/>
          </a:p>
          <a:p>
            <a:r>
              <a:rPr lang="en-NL" dirty="0"/>
              <a:t>Label noise from the LLM likely explains poor regression performance</a:t>
            </a:r>
          </a:p>
          <a:p>
            <a:r>
              <a:rPr lang="el-GR" dirty="0"/>
              <a:t>Κ</a:t>
            </a:r>
            <a:r>
              <a:rPr lang="en-GB" dirty="0"/>
              <a:t> &lt; 0.2 = poor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09838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C41C-1847-2DFF-14D3-3E02B080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3F636-3F6C-50B7-277A-03F1A5BE5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‘Correctly’ identify </a:t>
            </a:r>
            <a:r>
              <a:rPr lang="en-NL" dirty="0"/>
              <a:t>28 distinct events from 860 articles</a:t>
            </a:r>
            <a:endParaRPr lang="en-GB" dirty="0"/>
          </a:p>
          <a:p>
            <a:pPr lvl="1"/>
            <a:r>
              <a:rPr lang="en-GB" dirty="0"/>
              <a:t>Manual validation through each event, subset discussed in paper</a:t>
            </a:r>
          </a:p>
          <a:p>
            <a:r>
              <a:rPr lang="en-NL" dirty="0"/>
              <a:t>Entity-enriched embeddings + HDBSCAN successfully clusters related articles</a:t>
            </a:r>
            <a:endParaRPr lang="en-GB" dirty="0"/>
          </a:p>
          <a:p>
            <a:r>
              <a:rPr lang="en-NL" dirty="0"/>
              <a:t>75.8% noise is high, but is a deliberate </a:t>
            </a:r>
            <a:r>
              <a:rPr lang="en-NL" dirty="0" err="1"/>
              <a:t>tradeoff</a:t>
            </a:r>
            <a:r>
              <a:rPr lang="en-NL" dirty="0"/>
              <a:t> </a:t>
            </a:r>
            <a:r>
              <a:rPr lang="en-NL" dirty="0" err="1"/>
              <a:t>favoring</a:t>
            </a:r>
            <a:r>
              <a:rPr lang="en-NL" dirty="0"/>
              <a:t> precision over recall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41277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F8F32-7A88-0996-3BF8-AC4B0151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3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4FBC-C6AE-B6C9-84B7-2258B4029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NL" dirty="0" err="1"/>
              <a:t>rtifact</a:t>
            </a:r>
            <a:r>
              <a:rPr lang="en-NL" dirty="0"/>
              <a:t> demonstrates </a:t>
            </a:r>
            <a:r>
              <a:rPr lang="en-GB" dirty="0"/>
              <a:t>automated </a:t>
            </a:r>
            <a:r>
              <a:rPr lang="en-NL" dirty="0"/>
              <a:t>event-level impact analysis is feasible without manual label</a:t>
            </a:r>
            <a:r>
              <a:rPr lang="en-GB" dirty="0"/>
              <a:t>l</a:t>
            </a:r>
            <a:r>
              <a:rPr lang="en-NL" dirty="0" err="1"/>
              <a:t>ing</a:t>
            </a:r>
            <a:endParaRPr lang="en-GB" dirty="0"/>
          </a:p>
          <a:p>
            <a:r>
              <a:rPr lang="en-NL" dirty="0"/>
              <a:t>Pipeline combines LLM annotation → semantic embedding → clustering → radar chart visualization</a:t>
            </a:r>
            <a:endParaRPr lang="en-GB" dirty="0"/>
          </a:p>
          <a:p>
            <a:r>
              <a:rPr lang="en-GB" dirty="0"/>
              <a:t>R</a:t>
            </a:r>
            <a:r>
              <a:rPr lang="en-NL" dirty="0" err="1"/>
              <a:t>eliability</a:t>
            </a:r>
            <a:r>
              <a:rPr lang="en-NL" dirty="0"/>
              <a:t> bounded by quality</a:t>
            </a:r>
            <a:r>
              <a:rPr lang="en-GB" dirty="0"/>
              <a:t> of</a:t>
            </a:r>
            <a:r>
              <a:rPr lang="en-NL" dirty="0"/>
              <a:t> LLM annotations</a:t>
            </a:r>
            <a:endParaRPr lang="en-GB" dirty="0"/>
          </a:p>
          <a:p>
            <a:r>
              <a:rPr lang="en-NL" dirty="0"/>
              <a:t>Published openly on </a:t>
            </a:r>
            <a:r>
              <a:rPr lang="en-NL" dirty="0">
                <a:hlinkClick r:id="rId2"/>
              </a:rPr>
              <a:t>GitHub</a:t>
            </a:r>
            <a:endParaRPr lang="en-NL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97085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A496-E4C4-3716-BD89-5261C95BF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Artifact showcase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47C7A-B13A-5291-AFCD-F5947F907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CE3B6-12CA-9F25-FE41-A8EF02764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0" y="1275103"/>
            <a:ext cx="6803573" cy="3178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7D95A-3DF2-472B-586D-D543E001F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857" y="3113105"/>
            <a:ext cx="6388572" cy="36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929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5191C-65F5-D9E8-87ED-36004859F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+ future work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B8AD1-2990-3BC5-EEE0-8F30F2E77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Regression model comparison</a:t>
            </a:r>
          </a:p>
          <a:p>
            <a:r>
              <a:rPr lang="en-NL" dirty="0"/>
              <a:t>Llama 3.2 quality vs. larger models</a:t>
            </a:r>
            <a:endParaRPr lang="en-GB" dirty="0"/>
          </a:p>
          <a:p>
            <a:r>
              <a:rPr lang="en-GB" dirty="0"/>
              <a:t>Increase entity enrichment</a:t>
            </a:r>
          </a:p>
          <a:p>
            <a:r>
              <a:rPr lang="en-GB" dirty="0"/>
              <a:t>Single out attack news instead of all DDoS events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48899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397</Words>
  <Application>Microsoft Office PowerPoint</Application>
  <PresentationFormat>Widescreen</PresentationFormat>
  <Paragraphs>60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From Noise to Narrative</vt:lpstr>
      <vt:lpstr>Introduction</vt:lpstr>
      <vt:lpstr>Research Questions</vt:lpstr>
      <vt:lpstr>PEST</vt:lpstr>
      <vt:lpstr>Architecture</vt:lpstr>
      <vt:lpstr>Data + annotation</vt:lpstr>
      <vt:lpstr>Clustering</vt:lpstr>
      <vt:lpstr>Regressor</vt:lpstr>
      <vt:lpstr>Results 1</vt:lpstr>
      <vt:lpstr>Results 2</vt:lpstr>
      <vt:lpstr>Conclusion 1</vt:lpstr>
      <vt:lpstr>Conclusion 2</vt:lpstr>
      <vt:lpstr>Conclusion 3</vt:lpstr>
      <vt:lpstr>Artifact showcase</vt:lpstr>
      <vt:lpstr>Limitations +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Dijk, J. van (Jesse, Student B-BIT)</dc:creator>
  <cp:lastModifiedBy>Dijk, J. van (Jesse, Student B-BIT)</cp:lastModifiedBy>
  <cp:revision>2</cp:revision>
  <dcterms:created xsi:type="dcterms:W3CDTF">2026-06-29T08:04:18Z</dcterms:created>
  <dcterms:modified xsi:type="dcterms:W3CDTF">2026-06-29T14:54:49Z</dcterms:modified>
</cp:coreProperties>
</file>